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Simulasi Verifikasi Kredensial 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A5D6A7"/>
                </a:solidFill>
              </a:rPr>
              <a:t>Berbasis Smart Contract &amp; DApp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8E6C9"/>
                </a:solidFill>
              </a:rPr>
              <a:t>Solusi Kredensial Tepercaya, Efisien, dan Patuh Privasi UU PDP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</a:rPr>
              <a:t>📚  Blockchain KP70067008  |  Universitas Siliwangi  |  TA 2026/2027 Ganjil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06240"/>
            <a:ext cx="2727198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97680"/>
            <a:ext cx="2635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Anggota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26357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Smart Contract &amp; Arsitektur Sistem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715000"/>
            <a:ext cx="2361438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733288"/>
            <a:ext cx="23614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P1, 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4206240"/>
            <a:ext cx="2727198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2998" y="4297680"/>
            <a:ext cx="2635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Anggota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2998" y="4754880"/>
            <a:ext cx="26357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Pengujian, Deployment &amp; Debugging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5715000"/>
            <a:ext cx="2361438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5733288"/>
            <a:ext cx="23614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P2, P3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0196" y="4206240"/>
            <a:ext cx="2727198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4297680"/>
            <a:ext cx="2635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Anggota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6" y="4754880"/>
            <a:ext cx="26357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Frontend DApp &amp; Presentasi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5715000"/>
            <a:ext cx="2361438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3076" y="5733288"/>
            <a:ext cx="23614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P2, P4, P5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8834" y="4206240"/>
            <a:ext cx="2727198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274" y="4297680"/>
            <a:ext cx="26357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Anggota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0274" y="4754880"/>
            <a:ext cx="26357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Audit Keamanan &amp; Tata Kelola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1714" y="5715000"/>
            <a:ext cx="2361438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1714" y="5733288"/>
            <a:ext cx="23614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P3, P4, P5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Latar Belakang &amp; Masalah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Mengapa Verifikasi Akademik Konvensional Gagal?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697224" cy="2377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477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⚠️  Pemalsuan Ijazah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3477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Tingginya angka kejadian pemalsuan ijazah dan sertifikat akademik yang beredar di dunia kerja.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1584" y="1508760"/>
            <a:ext cx="3697224" cy="2377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1312" y="1627632"/>
            <a:ext cx="3477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⏳  Verifikasi Manual Lambat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1312" y="2194560"/>
            <a:ext cx="3477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Proses konfirmasi ke kampus melalui surat atau telepon memakan waktu berhari-hari hingga berminggu-minggu.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4528" y="1508760"/>
            <a:ext cx="3697224" cy="2377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4256" y="1627632"/>
            <a:ext cx="3477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🏛️  Sistem Sentral Rentan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4256" y="2194560"/>
            <a:ext cx="3477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Database kampus terpusat merupakan Single Point of Failure terhadap manipulasi data internal maupun serangan siber.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1109167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Solusi: Smart Contract berbasis EVM (Ethereum/Hardhat) untuk pembuktian keaslian
         dokumen akademik secara terdesentralisasi, transparan, dan tidak dapat dimanipulasi (tamper-proof).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Desain Arsitektur &amp; Prinsip On-Chain vs Off-Chain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Kepatuhan UU Pelindungan Data Pribadi (UU No. 27/2022)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🖥️ 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8257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Portal Admin  •  Portal Issuer  •  Portal Holder  •  Portal Verifier (DApp Frontend)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745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🔗  WEB3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8257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MetaMask / BrowserProvider  •  eth_call read-only (0 gas fee)  •  Signed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⛓️  BLOCKCHAIN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29000"/>
            <a:ext cx="8257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Smart Contract AcademicCredential.sol  •  AccessControl, Pausable  •  Hardhat Local (31337)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74552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🗃️  OFF-CHAIN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89120"/>
            <a:ext cx="8257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Repositori Kampus (Nama, NIM, IPK, PDF Fisik)  •  Client-side Keccak-256 Hasher (Browser)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5D"/>
                </a:solidFill>
              </a:rPr>
              <a:t>↕  docHash bytes32 (Keccak-256) — hanya sidik jari 32 byte yang melintas antara OFF-CHAIN dan ON-CHAIN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Implementasi Smart Contract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AcademicCredential.sol  –  OpenZeppelin AccessControl &amp; Pausable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697224" cy="2148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477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 DEFAULT_ADMIN_ROLE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Mengelola peran Issuer &amp; Revoker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060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Fungsi pause/unpause darurat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632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Pihak: Pengelola Sistem 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1584" y="1508760"/>
            <a:ext cx="3697224" cy="2148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1312" y="1600200"/>
            <a:ext cx="3477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ISSUER_ROLE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1312" y="21488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Menerbitkan kredensial tunggal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1312" y="26060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Batch issuance (maks 50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1312" y="30632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Pihak: Bagian Akademik Fakultas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4528" y="1508760"/>
            <a:ext cx="3697224" cy="2148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4256" y="1600200"/>
            <a:ext cx="3477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✂️  REVOKER_ROLE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4256" y="21488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Mencabut kredensial bermasalah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26060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Beserta alasan terstruktur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4256" y="3063240"/>
            <a:ext cx="3477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•  Pihak: Komite Etik / SPI Kampus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5454396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👨‍🎓  Holder (Mahasiswa)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159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Kendali penuh atas izin verifikasi melalui grantAccess(id, verifier).
Jejak audit persetujuan on-chain  •  hasAccess() untuk pemeriksaan.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3794760"/>
            <a:ext cx="5454396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5644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🔍  Verifier (Publik)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43159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verifyCredential(id, docHash) — view function, 0 gas fee.
Mengembalikan tuple: isValid, status, issuer, holder, expiresAt.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enum CredentialStatus:  0=NotFound  |  1=Valid  |  2=HashMismatch  |  3=Revoked  |  4=Expired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Pengembangan Antarmuka Frontend DApp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frontend/index.html  –  Ethers.js v6  |  Vanilla JS  |  MetaMask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772918" cy="2011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5900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🛡️  Portal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59003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Kelola peran Issuer &amp; Revoker.
Pause / Unpause kontrak darurat.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8134" y="1508760"/>
            <a:ext cx="2772918" cy="2011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9574" y="1600200"/>
            <a:ext cx="25900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📝  Portal Issuer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9574" y="2148840"/>
            <a:ext cx="259003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Terbitkan kredensial dengan
client-side Keccak-256 hash.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7628" y="1508760"/>
            <a:ext cx="2772918" cy="2011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9068" y="1600200"/>
            <a:ext cx="25900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👨‍🎓  Portal 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068" y="2148840"/>
            <a:ext cx="259003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Lihat daftar kredensial milik saya.
Berikan izin akses ke verifier.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7122" y="1508760"/>
            <a:ext cx="2772918" cy="2011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8562" y="1600200"/>
            <a:ext cx="25900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  Portal 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8562" y="2148840"/>
            <a:ext cx="259003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Verifikasi hash dokumen instan.
Cek status izin akses.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🔒  Client-Side Hashing — file PDF diproses di browser, tidak pernah diunggah ke jaringan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78808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📋  Log Transaksi Real-Time — Tx Hash, nomor blok, gas used, decoded event receipt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🔔  Deteksi Hak Akses Otomatis — badge Admin / Issuer / Revoker muncul sesuai wallet aktif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978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🌐  Kompatibel MetaMask — deteksi otomatis Chain ID 31337 &amp; opsi switch network Hardhat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Pengujian Unit &amp; Metrik Code Coverage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Hardhat Test Suite  –  Chai Matchers  –  39 Skenario Pengujian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5D6A7"/>
                </a:solidFill>
              </a:rPr>
              <a:t>Skenario Pengujian — 100% PASSING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858518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17670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17670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6B5D"/>
                </a:solidFill>
              </a:rPr>
              <a:t>Statements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21958" y="1463040"/>
            <a:ext cx="1858518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7678" y="1600200"/>
            <a:ext cx="17670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7678" y="2606040"/>
            <a:ext cx="17670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6B5D"/>
                </a:solidFill>
              </a:rPr>
              <a:t>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1916" y="1463040"/>
            <a:ext cx="1858518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7636" y="1600200"/>
            <a:ext cx="17670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7636" y="2606040"/>
            <a:ext cx="17670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6B5D"/>
                </a:solidFill>
              </a:rPr>
              <a:t>Functions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1874" y="1463040"/>
            <a:ext cx="1858518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7594" y="1600200"/>
            <a:ext cx="17670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89.71%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7594" y="2606040"/>
            <a:ext cx="17670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6B5D"/>
                </a:solidFill>
              </a:rPr>
              <a:t>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1. Inisialisasi &amp; Role Management (Admin, Issuer, Revoker)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59936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2. Penerbitan Kredensial Tunggal (issueCredential) — positif &amp; negatif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62272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3. Penerbitan Massal (issueBatch) — batas MAX_BATCH_SIZE =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64608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4. Pencabutan Kredensial (revokeCredential) — kontrol wewenang issuer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5. Persetujuan Akses oleh Holder (grantAccess &amp; hasAccess)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6. Verifikasi Publik (verifyCredential) — 5 status enum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71616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</a:rPr>
              <a:t>✓  7. Emergency Pause Mechanism — membekukan transaksi operasional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Hasil Deployment &amp; Catatan Debugging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Jaringan Hardhat Local Node  –  Chain ID: 31337  –  RPC: http://127.0.0.1:8545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📦  Hasil Deployment AcademicCredential.sol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Contract Address:  0x5FbDB2315678afecb367f032d93F642f64180aa3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4086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Tx Hash:  0xad672109cdda352da637053526ddf5270c64450d21fcf5862dcb7381ccba9f1a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883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Block Number:  1   (jaringan lokal Hardhat fresh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🐛  Kasus Debugging Utama: Konversi bytes32 Ethers.js v6 &amp; Browser File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→  Masalah: Input teks biasa dari form tidak kompatibel dengan tipe bytes32 Solidity → error INVALID_ARGUMENT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24527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→  Masalah: Membaca file biner (ArrayBuffer) menghasilkan hash berbeda jika tidak diproses dengan benar sebelum dikirim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00015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→  Solusi: Fungsi hashFrom() — deteksi otomatis sumber input (file ArrayBuffer, hex string 0x64, atau UTF-8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75503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D"/>
                </a:solidFill>
              </a:rPr>
              <a:t>→  Verifikasi: 39 unit test lulus 100% membuktikan seluruh jalur input hash tervalidasi dengan benar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Keamanan &amp; Mitigasi Kerentanan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Threat Model STRIDE  –  Re-Testing Pasca Perbaikan  –  39 Test Passing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2704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Pemalsuan identitas penerbit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onlyRole(ISSUER_ROLE)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1104" y="146304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52704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Tampering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92024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Manipulasi isi berkas ijazah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251460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254203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Keccak-256 docHash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46304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52704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Repudiation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92024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Penyangkalan penerbitan/pencabutan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51460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54203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Event log permanen on-chain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7296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Info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Kebocoran data pribadi mahasiswa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8795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PII disimpan off-chain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310896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317296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Denial of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356616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Gas Limit DoS via batch massal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2544" y="416052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418795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MAX_BATCH_SIZE = 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3108960"/>
            <a:ext cx="3758184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3172968"/>
            <a:ext cx="3575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Privilege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566160"/>
            <a:ext cx="3575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Akun non-admin mendapat role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4160520"/>
            <a:ext cx="3575304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418795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onlyRole(DEFAULT_ADMIN_ROLE)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800600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🚨  Emergency Break: Fitur Pausable membekukan seluruh transaksi operasional saat insiden keamanan terdeteksi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Evaluasi Arsitektur Enterprise</a:t>
            </a:r>
          </a:p>
          <a:p>
            <a:pPr algn="l"/>
            <a:r>
              <a:rPr sz="1600" i="1">
                <a:solidFill>
                  <a:srgbClr val="C8E6C9"/>
                </a:solidFill>
              </a:rPr>
              <a:t>Ethereum / EVM  vs  Hyperledger Fabric  vs  Database Tradisional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01168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96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63040"/>
            <a:ext cx="28346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4996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Ethereum / EVM Publik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463040"/>
            <a:ext cx="28346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4996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Hyperledger Fabric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28346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996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Database Tradisional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20116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65960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Identitas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920240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2888" y="196596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Pseudonim / Permissionless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920240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96596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X.509 PKI / MSP Ketat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6596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OAuth / LDAP Kampus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57860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62432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Konsensus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578608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2624328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Proof of Stake (Probabilistik)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578608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2624328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Raft/BFT (Deterministik)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578608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624328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ACID 2PC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36976"/>
            <a:ext cx="20116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282696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Privasi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3236976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32888" y="3282696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Transparan (Off-chain PII wajib)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236976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3248" y="3282696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Private Channels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236976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3282696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Enkripsi disk &amp; RLS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9534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941064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Throughput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895344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32888" y="3941064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15–30 TPS (L1)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3895344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3248" y="3941064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2.000–5.000+ TPS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895344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8" y="3941064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&gt; 10.000 TPS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553712"/>
            <a:ext cx="20116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599432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Biaya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4553712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32888" y="4599432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Gas fee per transaksi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4553712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13248" y="4599432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Bebas gas, beban node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553712"/>
            <a:ext cx="28346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93608" y="4599432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Sangat ekonomis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2120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5257800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Rekomendasi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521208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32888" y="525780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Verifikasi ijazah lintas negara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521208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525780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Konsorsium LLDIKTI/Kemendikbud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521208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93608" y="5257800"/>
            <a:ext cx="2706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D"/>
                </a:solidFill>
              </a:rPr>
              <a:t>SIA internal kampus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Kesimpulan, Roadmap &amp; Tanya Jawab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D"/>
                </a:solidFill>
              </a:rPr>
              <a:t>✅  Smart contract berhasil mengimplementasikan siklus penuh kredensial akademik: Penerbitan → Verifikasi → Pencabutan.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D"/>
                </a:solidFill>
              </a:rPr>
              <a:t>✅  39 unit test lulus 100% dengan Statement, Line, &amp; Function coverage 100%; Branch coverage 89.71%.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D"/>
                </a:solidFill>
              </a:rPr>
              <a:t>✅  Frontend DApp membuktikan privasi mahasiswa terjaga: PII tidak pernah menyentuh ledger blockchain.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D"/>
                </a:solidFill>
              </a:rPr>
              <a:t>✅  Verifikasi keaslian dokumen bersifat real-time, gratis (0 gas fee), dan dapat dilakukan oleh siapa saja.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11880"/>
            <a:ext cx="11457432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🗺️  Roadmap Pengembangan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3697224" cy="1417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3514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1  (Tahun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35143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Deploy jaringan konsorsium lokal antar-fakultas Universitas Siliwangi.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1584" y="4206240"/>
            <a:ext cx="3697224" cy="1417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3024" y="4279392"/>
            <a:ext cx="3514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2  (Tahun 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024" y="4709160"/>
            <a:ext cx="35143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Integrasi W3C Decentralized Identifiers (DID) &amp; Verifiable Credentials + ZKP.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528" y="4206240"/>
            <a:ext cx="3697224" cy="1417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4279392"/>
            <a:ext cx="3514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3  (Tahun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4709160"/>
            <a:ext cx="35143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Interoperabilitas nasional dengan pangkalan data PDDIKTI Kemendikbudristek.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45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97296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🎤  Sesi Tanya Jawab (Q&amp;A)  –  Terima Kasih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B6B5D"/>
                </a:solidFill>
              </a:rPr>
              <a:t>Blockchain KP70067008  –  Universitas Siliwangi  –  TA 2026/2027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